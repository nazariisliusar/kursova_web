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66" r:id="rId7"/>
    <p:sldId id="258" r:id="rId8"/>
    <p:sldId id="259" r:id="rId9"/>
    <p:sldId id="267" r:id="rId10"/>
    <p:sldId id="268" r:id="rId11"/>
    <p:sldId id="260" r:id="rId12"/>
    <p:sldId id="269" r:id="rId13"/>
    <p:sldId id="261" r:id="rId14"/>
    <p:sldId id="262" r:id="rId15"/>
    <p:sldId id="263" r:id="rId16"/>
  </p:sldIdLst>
  <p:sldSz cx="12192000" cy="6858000"/>
  <p:notesSz cx="6858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9B583D-13DD-4888-8A42-ACA7275DEE32}" v="60" dt="2026-05-14T15:17:59.8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uk-UA"/>
              <a:t>Зразок заголовка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98205-8E98-4351-9F1C-1DD4555500F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79FDD-8895-48C4-B134-F13FA7C2D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445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і об’є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176962"/>
            <a:ext cx="12192000" cy="681355"/>
          </a:xfrm>
          <a:custGeom>
            <a:avLst/>
            <a:gdLst/>
            <a:ahLst/>
            <a:cxnLst/>
            <a:rect l="l" t="t" r="r" b="b"/>
            <a:pathLst>
              <a:path w="12192000" h="681354">
                <a:moveTo>
                  <a:pt x="12192000" y="0"/>
                </a:moveTo>
                <a:lnTo>
                  <a:pt x="0" y="0"/>
                </a:lnTo>
                <a:lnTo>
                  <a:pt x="0" y="681037"/>
                </a:lnTo>
                <a:lnTo>
                  <a:pt x="12192000" y="6810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177" y="117594"/>
            <a:ext cx="924520" cy="135006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1F3864"/>
                </a:solidFill>
                <a:latin typeface="Tahoma"/>
                <a:cs typeface="Tahoma"/>
              </a:defRPr>
            </a:lvl1pPr>
          </a:lstStyle>
          <a:p>
            <a:r>
              <a:rPr lang="uk-UA"/>
              <a:t>Зразок заголовка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lvl="0"/>
            <a:r>
              <a:rPr lang="uk-UA"/>
              <a:t>Редагувати стиль зразка тексту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98205-8E98-4351-9F1C-1DD4555500F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79FDD-8895-48C4-B134-F13FA7C2D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094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1F3864"/>
                </a:solidFill>
                <a:latin typeface="Tahoma"/>
                <a:cs typeface="Tahoma"/>
              </a:defRPr>
            </a:lvl1pPr>
          </a:lstStyle>
          <a:p>
            <a:r>
              <a:rPr lang="uk-UA"/>
              <a:t>Зразок заголовка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uk-UA"/>
              <a:t>Редагувати стиль зразка тексту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uk-UA"/>
              <a:t>Редагувати стиль зразка тексту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98205-8E98-4351-9F1C-1DD4555500F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79FDD-8895-48C4-B134-F13FA7C2D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015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1F3864"/>
                </a:solidFill>
                <a:latin typeface="Tahoma"/>
                <a:cs typeface="Tahoma"/>
              </a:defRPr>
            </a:lvl1pPr>
          </a:lstStyle>
          <a:p>
            <a:r>
              <a:rPr lang="uk-UA"/>
              <a:t>Зразок заголовка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98205-8E98-4351-9F1C-1DD4555500F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79FDD-8895-48C4-B134-F13FA7C2D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751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98205-8E98-4351-9F1C-1DD4555500F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79FDD-8895-48C4-B134-F13FA7C2D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88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98205-8E98-4351-9F1C-1DD4555500F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9FDD-8895-48C4-B134-F13FA7C2D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123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333413"/>
            <a:ext cx="12192000" cy="525145"/>
          </a:xfrm>
          <a:custGeom>
            <a:avLst/>
            <a:gdLst/>
            <a:ahLst/>
            <a:cxnLst/>
            <a:rect l="l" t="t" r="r" b="b"/>
            <a:pathLst>
              <a:path w="12192000" h="525145">
                <a:moveTo>
                  <a:pt x="12191936" y="0"/>
                </a:moveTo>
                <a:lnTo>
                  <a:pt x="0" y="0"/>
                </a:lnTo>
                <a:lnTo>
                  <a:pt x="0" y="524586"/>
                </a:lnTo>
                <a:lnTo>
                  <a:pt x="12191936" y="524586"/>
                </a:lnTo>
                <a:lnTo>
                  <a:pt x="12191936" y="0"/>
                </a:lnTo>
                <a:close/>
              </a:path>
            </a:pathLst>
          </a:custGeom>
          <a:solidFill>
            <a:srgbClr val="1C39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401"/>
            <a:ext cx="12192000" cy="525145"/>
          </a:xfrm>
          <a:custGeom>
            <a:avLst/>
            <a:gdLst/>
            <a:ahLst/>
            <a:cxnLst/>
            <a:rect l="l" t="t" r="r" b="b"/>
            <a:pathLst>
              <a:path w="12192000" h="525145">
                <a:moveTo>
                  <a:pt x="0" y="0"/>
                </a:moveTo>
                <a:lnTo>
                  <a:pt x="12191936" y="0"/>
                </a:lnTo>
                <a:lnTo>
                  <a:pt x="12191936" y="524598"/>
                </a:lnTo>
              </a:path>
            </a:pathLst>
          </a:custGeom>
          <a:ln w="9525">
            <a:solidFill>
              <a:srgbClr val="1C39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12192000" cy="1206500"/>
          </a:xfrm>
          <a:custGeom>
            <a:avLst/>
            <a:gdLst/>
            <a:ahLst/>
            <a:cxnLst/>
            <a:rect l="l" t="t" r="r" b="b"/>
            <a:pathLst>
              <a:path w="12192000" h="1206500">
                <a:moveTo>
                  <a:pt x="12191936" y="0"/>
                </a:moveTo>
                <a:lnTo>
                  <a:pt x="0" y="0"/>
                </a:lnTo>
                <a:lnTo>
                  <a:pt x="0" y="1206004"/>
                </a:lnTo>
                <a:lnTo>
                  <a:pt x="12191936" y="1206004"/>
                </a:lnTo>
                <a:lnTo>
                  <a:pt x="12191936" y="0"/>
                </a:lnTo>
                <a:close/>
              </a:path>
            </a:pathLst>
          </a:custGeom>
          <a:solidFill>
            <a:srgbClr val="1C39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0"/>
            <a:ext cx="12192000" cy="1206500"/>
          </a:xfrm>
          <a:custGeom>
            <a:avLst/>
            <a:gdLst/>
            <a:ahLst/>
            <a:cxnLst/>
            <a:rect l="l" t="t" r="r" b="b"/>
            <a:pathLst>
              <a:path w="12192000" h="1206500">
                <a:moveTo>
                  <a:pt x="12191936" y="0"/>
                </a:moveTo>
                <a:lnTo>
                  <a:pt x="12191936" y="1205992"/>
                </a:lnTo>
                <a:lnTo>
                  <a:pt x="0" y="1205992"/>
                </a:lnTo>
              </a:path>
            </a:pathLst>
          </a:custGeom>
          <a:ln w="9525">
            <a:solidFill>
              <a:srgbClr val="0B53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7204" y="55999"/>
            <a:ext cx="731591" cy="10624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59229" y="158364"/>
            <a:ext cx="9473541" cy="1245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1F386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5289" y="1334694"/>
            <a:ext cx="10801421" cy="2847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98205-8E98-4351-9F1C-1DD4555500F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79FDD-8895-48C4-B134-F13FA7C2D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308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25287" y="2718466"/>
            <a:ext cx="11661913" cy="3631763"/>
          </a:xfrm>
        </p:spPr>
        <p:txBody>
          <a:bodyPr/>
          <a:lstStyle/>
          <a:p>
            <a:br>
              <a:rPr lang="uk-UA" sz="4000" b="1" dirty="0"/>
            </a:br>
            <a:br>
              <a:rPr lang="uk-UA" sz="4000" b="1" dirty="0"/>
            </a:br>
            <a:r>
              <a:rPr lang="uk-UA" sz="4000" b="1" dirty="0"/>
              <a:t>Додаток для новин </a:t>
            </a:r>
            <a:r>
              <a:rPr lang="uk-UA" sz="4000" b="1" dirty="0" err="1"/>
              <a:t>NewsHub</a:t>
            </a:r>
            <a:br>
              <a:rPr lang="uk-UA" sz="4000" b="1" dirty="0"/>
            </a:br>
            <a:r>
              <a:rPr lang="uk-UA" sz="3200" u="sng" dirty="0"/>
              <a:t>Виконав:</a:t>
            </a:r>
            <a:r>
              <a:rPr lang="uk-UA" sz="3200" dirty="0"/>
              <a:t> Слюсар Назарій Олегович, група ТВ-з41</a:t>
            </a:r>
            <a:br>
              <a:rPr lang="de-AT" sz="3200" dirty="0"/>
            </a:br>
            <a:r>
              <a:rPr lang="uk-UA" sz="3200" u="sng" dirty="0"/>
              <a:t>Перевірив:</a:t>
            </a:r>
            <a:r>
              <a:rPr lang="uk-UA" sz="4000" dirty="0"/>
              <a:t> </a:t>
            </a:r>
            <a:r>
              <a:rPr lang="uk-UA" sz="3200" dirty="0" err="1"/>
              <a:t>Недашківський</a:t>
            </a:r>
            <a:r>
              <a:rPr lang="uk-UA" sz="3200" dirty="0"/>
              <a:t> Олексій Леонідович</a:t>
            </a:r>
            <a:br>
              <a:rPr lang="uk-UA" sz="3200" dirty="0"/>
            </a:br>
            <a:r>
              <a:rPr lang="en-US" sz="1200" dirty="0"/>
              <a:t>GitHub </a:t>
            </a:r>
            <a:r>
              <a:rPr lang="uk-UA" sz="1200" dirty="0"/>
              <a:t>репозиторій</a:t>
            </a:r>
            <a:r>
              <a:rPr lang="de-AT" sz="1200" dirty="0"/>
              <a:t> https://github.com/NazariiSliusar/Kursova_web.git</a:t>
            </a:r>
            <a:br>
              <a:rPr lang="uk-UA" sz="3200" dirty="0"/>
            </a:br>
            <a:r>
              <a:rPr lang="de-AT" sz="3200" dirty="0"/>
              <a:t>2026</a:t>
            </a:r>
            <a:endParaRPr lang="uk-UA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5288" y="1170603"/>
            <a:ext cx="1166191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3200" dirty="0">
                <a:solidFill>
                  <a:srgbClr val="002060"/>
                </a:solidFill>
              </a:rPr>
              <a:t>Навчально-науковий інститут атомної та теплової енергетики</a:t>
            </a:r>
          </a:p>
          <a:p>
            <a:pPr algn="ctr"/>
            <a:r>
              <a:rPr lang="uk-UA" sz="3200" dirty="0">
                <a:solidFill>
                  <a:srgbClr val="002060"/>
                </a:solidFill>
              </a:rPr>
              <a:t>Кафедра інженерії програмного забезпечення в енергетиці</a:t>
            </a:r>
          </a:p>
          <a:p>
            <a:pPr algn="ctr"/>
            <a:r>
              <a:rPr lang="uk-UA" sz="3200" b="1" dirty="0">
                <a:solidFill>
                  <a:srgbClr val="002060"/>
                </a:solidFill>
              </a:rPr>
              <a:t>Основи Веб-програмування. Курсова робота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8330" y="6350230"/>
            <a:ext cx="1007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1/1</a:t>
            </a:r>
            <a:r>
              <a:rPr lang="de-AT" sz="2400" dirty="0">
                <a:solidFill>
                  <a:schemeClr val="bg1"/>
                </a:solidFill>
              </a:rPr>
              <a:t>2</a:t>
            </a:r>
            <a:endParaRPr lang="uk-UA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8859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663304"/>
            <a:ext cx="9144000" cy="1846659"/>
          </a:xfrm>
        </p:spPr>
        <p:txBody>
          <a:bodyPr/>
          <a:lstStyle/>
          <a:p>
            <a:r>
              <a:rPr lang="uk-UA" dirty="0">
                <a:solidFill>
                  <a:srgbClr val="002060"/>
                </a:solidFill>
              </a:rPr>
              <a:t>Актуальність теми</a:t>
            </a: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1524000" y="2986337"/>
            <a:ext cx="9144000" cy="2585323"/>
          </a:xfrm>
        </p:spPr>
        <p:txBody>
          <a:bodyPr/>
          <a:lstStyle/>
          <a:p>
            <a:pPr algn="l"/>
            <a:endParaRPr lang="uk-UA" dirty="0">
              <a:solidFill>
                <a:srgbClr val="002060"/>
              </a:solidFill>
            </a:endParaRPr>
          </a:p>
          <a:p>
            <a:pPr algn="l"/>
            <a:r>
              <a:rPr lang="uk-UA" dirty="0">
                <a:solidFill>
                  <a:srgbClr val="002060"/>
                </a:solidFill>
              </a:rPr>
              <a:t>Щоденне споживання новин зростає</a:t>
            </a:r>
            <a:r>
              <a:rPr lang="de-AT" dirty="0">
                <a:solidFill>
                  <a:srgbClr val="002060"/>
                </a:solidFill>
              </a:rPr>
              <a:t>,</a:t>
            </a:r>
            <a:r>
              <a:rPr lang="uk-UA" dirty="0">
                <a:solidFill>
                  <a:srgbClr val="002060"/>
                </a:solidFill>
              </a:rPr>
              <a:t> користувачі потребують єдиного місця для джерел</a:t>
            </a:r>
          </a:p>
          <a:p>
            <a:pPr algn="l"/>
            <a:r>
              <a:rPr lang="uk-UA" dirty="0">
                <a:solidFill>
                  <a:srgbClr val="002060"/>
                </a:solidFill>
              </a:rPr>
              <a:t>Більшість популярних </a:t>
            </a:r>
            <a:r>
              <a:rPr lang="uk-UA" dirty="0" err="1">
                <a:solidFill>
                  <a:srgbClr val="002060"/>
                </a:solidFill>
              </a:rPr>
              <a:t>агрегаторів</a:t>
            </a:r>
            <a:r>
              <a:rPr lang="uk-UA" dirty="0">
                <a:solidFill>
                  <a:srgbClr val="002060"/>
                </a:solidFill>
              </a:rPr>
              <a:t> (</a:t>
            </a:r>
            <a:r>
              <a:rPr lang="uk-UA" dirty="0" err="1">
                <a:solidFill>
                  <a:srgbClr val="002060"/>
                </a:solidFill>
              </a:rPr>
              <a:t>Google</a:t>
            </a:r>
            <a:r>
              <a:rPr lang="uk-UA" dirty="0">
                <a:solidFill>
                  <a:srgbClr val="002060"/>
                </a:solidFill>
              </a:rPr>
              <a:t> </a:t>
            </a:r>
            <a:r>
              <a:rPr lang="uk-UA" dirty="0" err="1">
                <a:solidFill>
                  <a:srgbClr val="002060"/>
                </a:solidFill>
              </a:rPr>
              <a:t>News</a:t>
            </a:r>
            <a:r>
              <a:rPr lang="uk-UA" dirty="0">
                <a:solidFill>
                  <a:srgbClr val="002060"/>
                </a:solidFill>
              </a:rPr>
              <a:t>, </a:t>
            </a:r>
            <a:r>
              <a:rPr lang="uk-UA" dirty="0" err="1">
                <a:solidFill>
                  <a:srgbClr val="002060"/>
                </a:solidFill>
              </a:rPr>
              <a:t>Feedly</a:t>
            </a:r>
            <a:r>
              <a:rPr lang="uk-UA" dirty="0">
                <a:solidFill>
                  <a:srgbClr val="002060"/>
                </a:solidFill>
              </a:rPr>
              <a:t>) не підтримують українську або обмежують безкоштовний функціонал</a:t>
            </a:r>
          </a:p>
          <a:p>
            <a:pPr algn="l"/>
            <a:r>
              <a:rPr lang="uk-UA" dirty="0">
                <a:solidFill>
                  <a:srgbClr val="002060"/>
                </a:solidFill>
              </a:rPr>
              <a:t>Мета: веб-додаток </a:t>
            </a:r>
            <a:r>
              <a:rPr lang="uk-UA" dirty="0" err="1">
                <a:solidFill>
                  <a:srgbClr val="002060"/>
                </a:solidFill>
              </a:rPr>
              <a:t>NewsHub</a:t>
            </a:r>
            <a:r>
              <a:rPr lang="de-AT" dirty="0">
                <a:solidFill>
                  <a:srgbClr val="002060"/>
                </a:solidFill>
              </a:rPr>
              <a:t> </a:t>
            </a:r>
            <a:r>
              <a:rPr lang="uk-UA" dirty="0">
                <a:solidFill>
                  <a:srgbClr val="002060"/>
                </a:solidFill>
              </a:rPr>
              <a:t>це </a:t>
            </a:r>
            <a:r>
              <a:rPr lang="uk-UA" dirty="0" err="1">
                <a:solidFill>
                  <a:srgbClr val="002060"/>
                </a:solidFill>
              </a:rPr>
              <a:t>агрегатор</a:t>
            </a:r>
            <a:r>
              <a:rPr lang="uk-UA" dirty="0">
                <a:solidFill>
                  <a:srgbClr val="002060"/>
                </a:solidFill>
              </a:rPr>
              <a:t> новин з двома мовами (EN/UA), темами, пошуком, закладками та історією запитів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8330" y="6350230"/>
            <a:ext cx="1007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2/1</a:t>
            </a:r>
            <a:r>
              <a:rPr lang="de-AT" sz="2400" dirty="0">
                <a:solidFill>
                  <a:schemeClr val="bg1"/>
                </a:solidFill>
              </a:rPr>
              <a:t>2</a:t>
            </a:r>
            <a:endParaRPr lang="uk-UA" sz="24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</p:spTree>
    <p:extLst>
      <p:ext uri="{BB962C8B-B14F-4D97-AF65-F5344CB8AC3E}">
        <p14:creationId xmlns:p14="http://schemas.microsoft.com/office/powerpoint/2010/main" val="2846788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663304"/>
            <a:ext cx="9144000" cy="1846659"/>
          </a:xfrm>
        </p:spPr>
        <p:txBody>
          <a:bodyPr/>
          <a:lstStyle/>
          <a:p>
            <a:r>
              <a:rPr lang="uk-UA" dirty="0">
                <a:solidFill>
                  <a:srgbClr val="002060"/>
                </a:solidFill>
              </a:rPr>
              <a:t>Постановка задачі</a:t>
            </a: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940525" y="3429000"/>
            <a:ext cx="10336920" cy="2215991"/>
          </a:xfrm>
        </p:spPr>
        <p:txBody>
          <a:bodyPr/>
          <a:lstStyle/>
          <a:p>
            <a:pPr algn="l"/>
            <a:r>
              <a:rPr lang="uk-UA" dirty="0">
                <a:solidFill>
                  <a:srgbClr val="002060"/>
                </a:solidFill>
              </a:rPr>
              <a:t>Спроєктувати діаграми компонентів, взаємодії та класів (UML)</a:t>
            </a:r>
          </a:p>
          <a:p>
            <a:pPr algn="l"/>
            <a:r>
              <a:rPr lang="uk-UA" dirty="0">
                <a:solidFill>
                  <a:srgbClr val="002060"/>
                </a:solidFill>
              </a:rPr>
              <a:t>Реалізувати REST API (Node.js / Express) з 11 </a:t>
            </a:r>
            <a:r>
              <a:rPr lang="uk-UA" dirty="0" err="1">
                <a:solidFill>
                  <a:srgbClr val="002060"/>
                </a:solidFill>
              </a:rPr>
              <a:t>ендпоінтами</a:t>
            </a:r>
            <a:r>
              <a:rPr lang="uk-UA" dirty="0">
                <a:solidFill>
                  <a:srgbClr val="002060"/>
                </a:solidFill>
              </a:rPr>
              <a:t> у 3 </a:t>
            </a:r>
            <a:r>
              <a:rPr lang="uk-UA" dirty="0" err="1">
                <a:solidFill>
                  <a:srgbClr val="002060"/>
                </a:solidFill>
              </a:rPr>
              <a:t>роутерах</a:t>
            </a:r>
            <a:r>
              <a:rPr lang="uk-UA" dirty="0">
                <a:solidFill>
                  <a:srgbClr val="002060"/>
                </a:solidFill>
              </a:rPr>
              <a:t>
Розробити клієнтську частину на JS та CSS-темами
Спроєктувати </a:t>
            </a:r>
            <a:r>
              <a:rPr lang="uk-UA" dirty="0" err="1">
                <a:solidFill>
                  <a:srgbClr val="002060"/>
                </a:solidFill>
              </a:rPr>
              <a:t>SQLite</a:t>
            </a:r>
            <a:r>
              <a:rPr lang="uk-UA" dirty="0">
                <a:solidFill>
                  <a:srgbClr val="002060"/>
                </a:solidFill>
              </a:rPr>
              <a:t>-базу (sql.js): таблиці </a:t>
            </a:r>
            <a:r>
              <a:rPr lang="uk-UA" dirty="0" err="1">
                <a:solidFill>
                  <a:srgbClr val="002060"/>
                </a:solidFill>
              </a:rPr>
              <a:t>bookmarks</a:t>
            </a:r>
            <a:r>
              <a:rPr lang="uk-UA" dirty="0">
                <a:solidFill>
                  <a:srgbClr val="002060"/>
                </a:solidFill>
              </a:rPr>
              <a:t>, </a:t>
            </a:r>
            <a:r>
              <a:rPr lang="uk-UA" dirty="0" err="1">
                <a:solidFill>
                  <a:srgbClr val="002060"/>
                </a:solidFill>
              </a:rPr>
              <a:t>categories</a:t>
            </a:r>
            <a:r>
              <a:rPr lang="uk-UA" dirty="0">
                <a:solidFill>
                  <a:srgbClr val="002060"/>
                </a:solidFill>
              </a:rPr>
              <a:t>, </a:t>
            </a:r>
            <a:r>
              <a:rPr lang="uk-UA" dirty="0" err="1">
                <a:solidFill>
                  <a:srgbClr val="002060"/>
                </a:solidFill>
              </a:rPr>
              <a:t>search_history</a:t>
            </a:r>
            <a:r>
              <a:rPr lang="uk-UA" dirty="0">
                <a:solidFill>
                  <a:srgbClr val="002060"/>
                </a:solidFill>
              </a:rPr>
              <a:t>
Інтегрувати </a:t>
            </a:r>
            <a:r>
              <a:rPr lang="uk-UA" dirty="0" err="1">
                <a:solidFill>
                  <a:srgbClr val="002060"/>
                </a:solidFill>
              </a:rPr>
              <a:t>NewsAPI</a:t>
            </a:r>
            <a:r>
              <a:rPr lang="uk-UA" dirty="0">
                <a:solidFill>
                  <a:srgbClr val="002060"/>
                </a:solidFill>
              </a:rPr>
              <a:t> (EN) та </a:t>
            </a:r>
            <a:r>
              <a:rPr lang="uk-UA" dirty="0" err="1">
                <a:solidFill>
                  <a:srgbClr val="002060"/>
                </a:solidFill>
              </a:rPr>
              <a:t>GNews</a:t>
            </a:r>
            <a:r>
              <a:rPr lang="uk-UA" dirty="0">
                <a:solidFill>
                  <a:srgbClr val="002060"/>
                </a:solidFill>
              </a:rPr>
              <a:t> (UA) як джерела новин
Написати </a:t>
            </a:r>
            <a:r>
              <a:rPr lang="uk-UA" dirty="0" err="1">
                <a:solidFill>
                  <a:srgbClr val="002060"/>
                </a:solidFill>
              </a:rPr>
              <a:t>автотести</a:t>
            </a:r>
            <a:r>
              <a:rPr lang="uk-UA" dirty="0">
                <a:solidFill>
                  <a:srgbClr val="002060"/>
                </a:solidFill>
              </a:rPr>
              <a:t> (</a:t>
            </a:r>
            <a:r>
              <a:rPr lang="uk-UA" dirty="0" err="1">
                <a:solidFill>
                  <a:srgbClr val="002060"/>
                </a:solidFill>
              </a:rPr>
              <a:t>node:test</a:t>
            </a:r>
            <a:r>
              <a:rPr lang="uk-UA" dirty="0">
                <a:solidFill>
                  <a:srgbClr val="002060"/>
                </a:solidFill>
              </a:rPr>
              <a:t>) для перевірки API та БД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8330" y="6350230"/>
            <a:ext cx="1007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3/1</a:t>
            </a:r>
            <a:r>
              <a:rPr lang="de-AT" sz="2400" dirty="0">
                <a:solidFill>
                  <a:schemeClr val="bg1"/>
                </a:solidFill>
              </a:rPr>
              <a:t>2</a:t>
            </a:r>
            <a:endParaRPr lang="uk-UA" sz="24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</p:spTree>
    <p:extLst>
      <p:ext uri="{BB962C8B-B14F-4D97-AF65-F5344CB8AC3E}">
        <p14:creationId xmlns:p14="http://schemas.microsoft.com/office/powerpoint/2010/main" val="3423444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93371" y="1157985"/>
            <a:ext cx="9144000" cy="2769989"/>
          </a:xfrm>
        </p:spPr>
        <p:txBody>
          <a:bodyPr/>
          <a:lstStyle/>
          <a:p>
            <a:r>
              <a:rPr lang="uk-UA" dirty="0">
                <a:solidFill>
                  <a:srgbClr val="002060"/>
                </a:solidFill>
              </a:rPr>
              <a:t>Аналіз предметної області</a:t>
            </a: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1393371" y="3429000"/>
            <a:ext cx="9672735" cy="2158732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uk-UA" dirty="0" err="1">
                <a:solidFill>
                  <a:srgbClr val="002060"/>
                </a:solidFill>
              </a:rPr>
              <a:t>Google</a:t>
            </a:r>
            <a:r>
              <a:rPr lang="uk-UA" dirty="0">
                <a:solidFill>
                  <a:srgbClr val="002060"/>
                </a:solidFill>
              </a:rPr>
              <a:t> </a:t>
            </a:r>
            <a:r>
              <a:rPr lang="uk-UA" dirty="0" err="1">
                <a:solidFill>
                  <a:srgbClr val="002060"/>
                </a:solidFill>
              </a:rPr>
              <a:t>News</a:t>
            </a:r>
            <a:r>
              <a:rPr lang="de-AT" dirty="0">
                <a:solidFill>
                  <a:srgbClr val="002060"/>
                </a:solidFill>
              </a:rPr>
              <a:t>:</a:t>
            </a:r>
            <a:r>
              <a:rPr lang="uk-UA" dirty="0">
                <a:solidFill>
                  <a:srgbClr val="002060"/>
                </a:solidFill>
              </a:rPr>
              <a:t>  немає контролю над джерелами</a:t>
            </a:r>
          </a:p>
          <a:p>
            <a:pPr algn="l">
              <a:lnSpc>
                <a:spcPct val="150000"/>
              </a:lnSpc>
            </a:pPr>
            <a:r>
              <a:rPr lang="uk-UA" dirty="0" err="1">
                <a:solidFill>
                  <a:srgbClr val="002060"/>
                </a:solidFill>
              </a:rPr>
              <a:t>Feedly</a:t>
            </a:r>
            <a:r>
              <a:rPr lang="uk-UA" dirty="0">
                <a:solidFill>
                  <a:srgbClr val="002060"/>
                </a:solidFill>
              </a:rPr>
              <a:t> / </a:t>
            </a:r>
            <a:r>
              <a:rPr lang="uk-UA" dirty="0" err="1">
                <a:solidFill>
                  <a:srgbClr val="002060"/>
                </a:solidFill>
              </a:rPr>
              <a:t>Inoreader</a:t>
            </a:r>
            <a:r>
              <a:rPr lang="de-AT" dirty="0">
                <a:solidFill>
                  <a:srgbClr val="002060"/>
                </a:solidFill>
              </a:rPr>
              <a:t>:</a:t>
            </a:r>
            <a:r>
              <a:rPr lang="uk-UA" dirty="0">
                <a:solidFill>
                  <a:srgbClr val="002060"/>
                </a:solidFill>
              </a:rPr>
              <a:t> нотатки та повний функціонал тільки у платних версіях
</a:t>
            </a:r>
            <a:r>
              <a:rPr lang="uk-UA" dirty="0" err="1">
                <a:solidFill>
                  <a:srgbClr val="002060"/>
                </a:solidFill>
              </a:rPr>
              <a:t>NewsHub</a:t>
            </a:r>
            <a:r>
              <a:rPr lang="de-AT" dirty="0">
                <a:solidFill>
                  <a:srgbClr val="002060"/>
                </a:solidFill>
              </a:rPr>
              <a:t>:</a:t>
            </a:r>
            <a:r>
              <a:rPr lang="uk-UA" dirty="0">
                <a:solidFill>
                  <a:srgbClr val="002060"/>
                </a:solidFill>
              </a:rPr>
              <a:t> нотатки до закладок, збереження пошуку, підтримка UA мови: безкоштовно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8330" y="6350230"/>
            <a:ext cx="1007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4/1</a:t>
            </a:r>
            <a:r>
              <a:rPr lang="de-AT" sz="2400" dirty="0">
                <a:solidFill>
                  <a:schemeClr val="bg1"/>
                </a:solidFill>
              </a:rPr>
              <a:t>2</a:t>
            </a:r>
            <a:endParaRPr lang="uk-UA" sz="24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</p:spTree>
    <p:extLst>
      <p:ext uri="{BB962C8B-B14F-4D97-AF65-F5344CB8AC3E}">
        <p14:creationId xmlns:p14="http://schemas.microsoft.com/office/powerpoint/2010/main" val="1271453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696278" y="1092211"/>
            <a:ext cx="9144000" cy="2462213"/>
          </a:xfrm>
        </p:spPr>
        <p:txBody>
          <a:bodyPr/>
          <a:lstStyle/>
          <a:p>
            <a:r>
              <a:rPr lang="uk-UA" sz="4000" dirty="0">
                <a:solidFill>
                  <a:srgbClr val="002060"/>
                </a:solidFill>
              </a:rPr>
              <a:t>Проєктування системи</a:t>
            </a:r>
            <a:r>
              <a:rPr lang="de-AT" sz="4000" dirty="0">
                <a:solidFill>
                  <a:srgbClr val="002060"/>
                </a:solidFill>
              </a:rPr>
              <a:t>-</a:t>
            </a:r>
            <a:r>
              <a:rPr lang="uk-UA" sz="4000" dirty="0">
                <a:solidFill>
                  <a:srgbClr val="002060"/>
                </a:solidFill>
              </a:rPr>
              <a:t>діаграма компонентів</a:t>
            </a:r>
            <a:br>
              <a:rPr lang="uk-UA" sz="4000" dirty="0">
                <a:solidFill>
                  <a:srgbClr val="002060"/>
                </a:solidFill>
              </a:rPr>
            </a:br>
            <a:br>
              <a:rPr lang="uk-UA" sz="4000" dirty="0">
                <a:solidFill>
                  <a:srgbClr val="002060"/>
                </a:solidFill>
              </a:rPr>
            </a:br>
            <a:endParaRPr lang="uk-UA" sz="4000" dirty="0"/>
          </a:p>
        </p:txBody>
      </p:sp>
      <p:sp>
        <p:nvSpPr>
          <p:cNvPr id="4" name="TextBox 3"/>
          <p:cNvSpPr txBox="1"/>
          <p:nvPr/>
        </p:nvSpPr>
        <p:spPr>
          <a:xfrm>
            <a:off x="9515061" y="6350230"/>
            <a:ext cx="2650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5/1</a:t>
            </a:r>
            <a:r>
              <a:rPr lang="de-AT" sz="2400" dirty="0">
                <a:solidFill>
                  <a:schemeClr val="bg1"/>
                </a:solidFill>
              </a:rPr>
              <a:t>2</a:t>
            </a:r>
            <a:endParaRPr lang="uk-UA" sz="24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E62558-73FC-48C9-54BB-E380904F2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044" y="2323318"/>
            <a:ext cx="5385320" cy="3919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126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432139-7D06-D6C9-6903-BE437F0020FE}"/>
              </a:ext>
            </a:extLst>
          </p:cNvPr>
          <p:cNvSpPr txBox="1"/>
          <p:nvPr/>
        </p:nvSpPr>
        <p:spPr>
          <a:xfrm>
            <a:off x="1614196" y="1217845"/>
            <a:ext cx="1016103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4000" dirty="0">
                <a:solidFill>
                  <a:srgbClr val="002060"/>
                </a:solidFill>
              </a:rPr>
              <a:t>Проєктування системи</a:t>
            </a:r>
            <a:r>
              <a:rPr lang="de-AT" sz="4000" dirty="0">
                <a:solidFill>
                  <a:srgbClr val="002060"/>
                </a:solidFill>
              </a:rPr>
              <a:t>-</a:t>
            </a:r>
            <a:r>
              <a:rPr lang="uk-UA" sz="4000" dirty="0">
                <a:solidFill>
                  <a:srgbClr val="002060"/>
                </a:solidFill>
              </a:rPr>
              <a:t>діаграма класів</a:t>
            </a:r>
            <a:br>
              <a:rPr lang="uk-UA" sz="4000" dirty="0">
                <a:solidFill>
                  <a:srgbClr val="002060"/>
                </a:solidFill>
              </a:rPr>
            </a:br>
            <a:br>
              <a:rPr lang="uk-UA" sz="4000" dirty="0">
                <a:solidFill>
                  <a:srgbClr val="002060"/>
                </a:solidFill>
              </a:rPr>
            </a:br>
            <a:endParaRPr lang="uk-UA" sz="4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F87D4A-6F78-44AA-0BE7-4E0F0883F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868" y="2040309"/>
            <a:ext cx="5864264" cy="41496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1637C0-B5DD-6828-D4BC-E5EE5F6F93F0}"/>
              </a:ext>
            </a:extLst>
          </p:cNvPr>
          <p:cNvSpPr txBox="1"/>
          <p:nvPr/>
        </p:nvSpPr>
        <p:spPr>
          <a:xfrm>
            <a:off x="940525" y="82905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F650AD-E420-4CC6-AA93-CCFC2A64D93C}"/>
              </a:ext>
            </a:extLst>
          </p:cNvPr>
          <p:cNvSpPr txBox="1"/>
          <p:nvPr/>
        </p:nvSpPr>
        <p:spPr>
          <a:xfrm>
            <a:off x="9515061" y="6350230"/>
            <a:ext cx="2650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AT" sz="2400" dirty="0">
                <a:solidFill>
                  <a:schemeClr val="bg1"/>
                </a:solidFill>
              </a:rPr>
              <a:t>6</a:t>
            </a:r>
            <a:r>
              <a:rPr lang="uk-UA" sz="2400" dirty="0">
                <a:solidFill>
                  <a:schemeClr val="bg1"/>
                </a:solidFill>
              </a:rPr>
              <a:t>/1</a:t>
            </a:r>
            <a:r>
              <a:rPr lang="de-AT" sz="2400" dirty="0">
                <a:solidFill>
                  <a:schemeClr val="bg1"/>
                </a:solidFill>
              </a:rPr>
              <a:t>2</a:t>
            </a:r>
            <a:endParaRPr lang="uk-UA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9613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EC1AA-2A8F-AC74-6BB1-A54034E3D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31E4860-D76B-9699-C4DE-D8D6E3E54032}"/>
              </a:ext>
            </a:extLst>
          </p:cNvPr>
          <p:cNvSpPr txBox="1"/>
          <p:nvPr/>
        </p:nvSpPr>
        <p:spPr>
          <a:xfrm>
            <a:off x="1614196" y="1217845"/>
            <a:ext cx="1016103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4000" dirty="0">
                <a:solidFill>
                  <a:srgbClr val="002060"/>
                </a:solidFill>
              </a:rPr>
              <a:t>Проєктування системи</a:t>
            </a:r>
            <a:r>
              <a:rPr lang="de-AT" sz="4000" dirty="0">
                <a:solidFill>
                  <a:srgbClr val="002060"/>
                </a:solidFill>
              </a:rPr>
              <a:t>-</a:t>
            </a:r>
            <a:r>
              <a:rPr lang="uk-UA" sz="4000" dirty="0">
                <a:solidFill>
                  <a:srgbClr val="002060"/>
                </a:solidFill>
              </a:rPr>
              <a:t>структура бази </a:t>
            </a:r>
            <a:r>
              <a:rPr lang="uk-UA" sz="4000" dirty="0" err="1">
                <a:solidFill>
                  <a:srgbClr val="002060"/>
                </a:solidFill>
              </a:rPr>
              <a:t>данних</a:t>
            </a:r>
            <a:br>
              <a:rPr lang="uk-UA" sz="4000" dirty="0">
                <a:solidFill>
                  <a:srgbClr val="002060"/>
                </a:solidFill>
              </a:rPr>
            </a:br>
            <a:br>
              <a:rPr lang="uk-UA" sz="4000" dirty="0">
                <a:solidFill>
                  <a:srgbClr val="002060"/>
                </a:solidFill>
              </a:rPr>
            </a:br>
            <a:endParaRPr lang="uk-UA" sz="4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D8949E-4EE0-BBF8-186B-A3302331FE62}"/>
              </a:ext>
            </a:extLst>
          </p:cNvPr>
          <p:cNvSpPr txBox="1"/>
          <p:nvPr/>
        </p:nvSpPr>
        <p:spPr>
          <a:xfrm>
            <a:off x="940525" y="82905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7611EB-F63F-9460-2AEA-C2F4C9BC0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7523" y="2049289"/>
            <a:ext cx="6574384" cy="38476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2B9F8B8-B2D8-78C6-4B46-0B70B165463E}"/>
              </a:ext>
            </a:extLst>
          </p:cNvPr>
          <p:cNvSpPr txBox="1"/>
          <p:nvPr/>
        </p:nvSpPr>
        <p:spPr>
          <a:xfrm>
            <a:off x="9515061" y="6350230"/>
            <a:ext cx="2650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AT" sz="2400" dirty="0">
                <a:solidFill>
                  <a:schemeClr val="bg1"/>
                </a:solidFill>
              </a:rPr>
              <a:t>7</a:t>
            </a:r>
            <a:r>
              <a:rPr lang="uk-UA" sz="2400" dirty="0">
                <a:solidFill>
                  <a:schemeClr val="bg1"/>
                </a:solidFill>
              </a:rPr>
              <a:t>/1</a:t>
            </a:r>
            <a:r>
              <a:rPr lang="de-AT" sz="2400" dirty="0">
                <a:solidFill>
                  <a:schemeClr val="bg1"/>
                </a:solidFill>
              </a:rPr>
              <a:t>2</a:t>
            </a:r>
            <a:endParaRPr lang="uk-UA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8850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663304"/>
            <a:ext cx="9144000" cy="1846659"/>
          </a:xfrm>
        </p:spPr>
        <p:txBody>
          <a:bodyPr/>
          <a:lstStyle/>
          <a:p>
            <a:r>
              <a:rPr lang="uk-UA" dirty="0">
                <a:solidFill>
                  <a:srgbClr val="002060"/>
                </a:solidFill>
              </a:rPr>
              <a:t>Реалізація системи</a:t>
            </a: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4" name="TextBox 3"/>
          <p:cNvSpPr txBox="1"/>
          <p:nvPr/>
        </p:nvSpPr>
        <p:spPr>
          <a:xfrm>
            <a:off x="9136251" y="6350230"/>
            <a:ext cx="30292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AT" sz="2400" dirty="0">
                <a:solidFill>
                  <a:schemeClr val="bg1"/>
                </a:solidFill>
              </a:rPr>
              <a:t>8</a:t>
            </a:r>
            <a:r>
              <a:rPr lang="uk-UA" sz="2400" dirty="0">
                <a:solidFill>
                  <a:schemeClr val="bg1"/>
                </a:solidFill>
              </a:rPr>
              <a:t>/1</a:t>
            </a:r>
            <a:r>
              <a:rPr lang="de-AT" sz="2400" dirty="0">
                <a:solidFill>
                  <a:schemeClr val="bg1"/>
                </a:solidFill>
              </a:rPr>
              <a:t>2</a:t>
            </a:r>
            <a:endParaRPr lang="uk-UA" sz="24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40525" y="82905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4E0B83CB-0C4A-F049-7829-FFC2D5E2557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35902" y="2861494"/>
            <a:ext cx="11513976" cy="2957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uk-UA" altLang="uk-UA" sz="1800" b="1" dirty="0">
                <a:solidFill>
                  <a:srgbClr val="002060"/>
                </a:solidFill>
              </a:rPr>
              <a:t>Node.js + Express</a:t>
            </a:r>
            <a:r>
              <a:rPr lang="de-AT" altLang="uk-UA" sz="1800" b="1" dirty="0">
                <a:solidFill>
                  <a:srgbClr val="002060"/>
                </a:solidFill>
              </a:rPr>
              <a:t>:</a:t>
            </a:r>
            <a:r>
              <a:rPr lang="uk-UA" altLang="uk-UA" sz="1800" dirty="0">
                <a:solidFill>
                  <a:srgbClr val="002060"/>
                </a:solidFill>
              </a:rPr>
              <a:t> асинхронний сервер на події (</a:t>
            </a:r>
            <a:r>
              <a:rPr lang="uk-UA" altLang="uk-UA" sz="1800" dirty="0" err="1">
                <a:solidFill>
                  <a:srgbClr val="002060"/>
                </a:solidFill>
              </a:rPr>
              <a:t>event</a:t>
            </a:r>
            <a:r>
              <a:rPr lang="uk-UA" altLang="uk-UA" sz="1800" dirty="0">
                <a:solidFill>
                  <a:srgbClr val="002060"/>
                </a:solidFill>
              </a:rPr>
              <a:t> </a:t>
            </a:r>
            <a:r>
              <a:rPr lang="uk-UA" altLang="uk-UA" sz="1800" dirty="0" err="1">
                <a:solidFill>
                  <a:srgbClr val="002060"/>
                </a:solidFill>
              </a:rPr>
              <a:t>loop</a:t>
            </a:r>
            <a:r>
              <a:rPr lang="uk-UA" altLang="uk-UA" sz="1800" dirty="0">
                <a:solidFill>
                  <a:srgbClr val="002060"/>
                </a:solidFill>
              </a:rPr>
              <a:t>), неблокуючі I/O операції </a:t>
            </a:r>
          </a:p>
          <a:p>
            <a:pPr marR="0" lvl="0" algn="l" defTabSz="914400" rtl="0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uk-UA" altLang="uk-UA" sz="1800" b="1" dirty="0">
                <a:solidFill>
                  <a:srgbClr val="002060"/>
                </a:solidFill>
              </a:rPr>
              <a:t>sql.js</a:t>
            </a:r>
            <a:r>
              <a:rPr lang="de-AT" altLang="uk-UA" sz="1800" b="1" dirty="0">
                <a:solidFill>
                  <a:srgbClr val="002060"/>
                </a:solidFill>
              </a:rPr>
              <a:t>:</a:t>
            </a:r>
            <a:r>
              <a:rPr lang="uk-UA" altLang="uk-UA" sz="1800" b="1" dirty="0">
                <a:solidFill>
                  <a:srgbClr val="002060"/>
                </a:solidFill>
              </a:rPr>
              <a:t> </a:t>
            </a:r>
            <a:r>
              <a:rPr lang="uk-UA" altLang="uk-UA" sz="1800" dirty="0" err="1">
                <a:solidFill>
                  <a:srgbClr val="002060"/>
                </a:solidFill>
              </a:rPr>
              <a:t>SQLite</a:t>
            </a:r>
            <a:r>
              <a:rPr lang="uk-UA" altLang="uk-UA" sz="1800" dirty="0">
                <a:solidFill>
                  <a:srgbClr val="002060"/>
                </a:solidFill>
              </a:rPr>
              <a:t> скомпільований у </a:t>
            </a:r>
            <a:r>
              <a:rPr lang="uk-UA" altLang="uk-UA" sz="1800" dirty="0" err="1">
                <a:solidFill>
                  <a:srgbClr val="002060"/>
                </a:solidFill>
              </a:rPr>
              <a:t>WebAssembly</a:t>
            </a:r>
            <a:r>
              <a:rPr lang="uk-UA" altLang="uk-UA" sz="1800" dirty="0">
                <a:solidFill>
                  <a:srgbClr val="002060"/>
                </a:solidFill>
              </a:rPr>
              <a:t>, встановлюється як </a:t>
            </a:r>
            <a:r>
              <a:rPr lang="uk-UA" altLang="uk-UA" sz="1800" dirty="0" err="1">
                <a:solidFill>
                  <a:srgbClr val="002060"/>
                </a:solidFill>
              </a:rPr>
              <a:t>npm</a:t>
            </a:r>
            <a:r>
              <a:rPr lang="uk-UA" altLang="uk-UA" sz="1800" dirty="0">
                <a:solidFill>
                  <a:srgbClr val="002060"/>
                </a:solidFill>
              </a:rPr>
              <a:t>-пакет без </a:t>
            </a:r>
            <a:r>
              <a:rPr lang="uk-UA" altLang="uk-UA" sz="1800" dirty="0" err="1">
                <a:solidFill>
                  <a:srgbClr val="002060"/>
                </a:solidFill>
              </a:rPr>
              <a:t>нативних</a:t>
            </a:r>
            <a:r>
              <a:rPr lang="uk-UA" altLang="uk-UA" sz="1800" dirty="0">
                <a:solidFill>
                  <a:srgbClr val="002060"/>
                </a:solidFill>
              </a:rPr>
              <a:t> </a:t>
            </a:r>
            <a:r>
              <a:rPr lang="uk-UA" altLang="uk-UA" sz="1800" dirty="0" err="1">
                <a:solidFill>
                  <a:srgbClr val="002060"/>
                </a:solidFill>
              </a:rPr>
              <a:t>залежностей</a:t>
            </a:r>
            <a:r>
              <a:rPr lang="uk-UA" altLang="uk-UA" sz="1800" dirty="0">
                <a:solidFill>
                  <a:srgbClr val="002060"/>
                </a:solidFill>
              </a:rPr>
              <a:t> </a:t>
            </a:r>
          </a:p>
          <a:p>
            <a:pPr marR="0" lvl="0" algn="l" defTabSz="914400" rtl="0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uk-UA" altLang="uk-UA" sz="1800" b="1" dirty="0" err="1">
                <a:solidFill>
                  <a:srgbClr val="002060"/>
                </a:solidFill>
              </a:rPr>
              <a:t>NewsAPI</a:t>
            </a:r>
            <a:r>
              <a:rPr lang="de-AT" altLang="uk-UA" sz="1800" b="1" dirty="0">
                <a:solidFill>
                  <a:srgbClr val="002060"/>
                </a:solidFill>
              </a:rPr>
              <a:t>: </a:t>
            </a:r>
            <a:r>
              <a:rPr lang="uk-UA" altLang="uk-UA" sz="1800" dirty="0">
                <a:solidFill>
                  <a:srgbClr val="002060"/>
                </a:solidFill>
              </a:rPr>
              <a:t>REST API з 150 000+ англомовних джерел, запити тільки з сервера </a:t>
            </a:r>
          </a:p>
          <a:p>
            <a:pPr marR="0" lvl="0" algn="l" defTabSz="914400" rtl="0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uk-UA" altLang="uk-UA" sz="1800" b="1" dirty="0">
                <a:solidFill>
                  <a:srgbClr val="002060"/>
                </a:solidFill>
              </a:rPr>
              <a:t>G</a:t>
            </a:r>
            <a:r>
              <a:rPr lang="de-AT" altLang="uk-UA" sz="1800" b="1" dirty="0">
                <a:solidFill>
                  <a:srgbClr val="002060"/>
                </a:solidFill>
              </a:rPr>
              <a:t>n</a:t>
            </a:r>
            <a:r>
              <a:rPr lang="uk-UA" altLang="uk-UA" sz="1800" b="1" dirty="0" err="1">
                <a:solidFill>
                  <a:srgbClr val="002060"/>
                </a:solidFill>
              </a:rPr>
              <a:t>ews</a:t>
            </a:r>
            <a:r>
              <a:rPr lang="de-AT" altLang="uk-UA" sz="1800" b="1" dirty="0">
                <a:solidFill>
                  <a:srgbClr val="002060"/>
                </a:solidFill>
              </a:rPr>
              <a:t>:</a:t>
            </a:r>
            <a:r>
              <a:rPr lang="uk-UA" altLang="uk-UA" sz="1800" b="1" dirty="0">
                <a:solidFill>
                  <a:srgbClr val="002060"/>
                </a:solidFill>
              </a:rPr>
              <a:t> </a:t>
            </a:r>
            <a:r>
              <a:rPr lang="uk-UA" altLang="uk-UA" sz="1800" dirty="0">
                <a:solidFill>
                  <a:srgbClr val="002060"/>
                </a:solidFill>
              </a:rPr>
              <a:t>REST API з підтримкою </a:t>
            </a:r>
            <a:r>
              <a:rPr lang="uk-UA" altLang="uk-UA" sz="1800" dirty="0" err="1">
                <a:solidFill>
                  <a:srgbClr val="002060"/>
                </a:solidFill>
              </a:rPr>
              <a:t>lang</a:t>
            </a:r>
            <a:r>
              <a:rPr lang="uk-UA" altLang="uk-UA" sz="1800" dirty="0">
                <a:solidFill>
                  <a:srgbClr val="002060"/>
                </a:solidFill>
              </a:rPr>
              <a:t>=</a:t>
            </a:r>
            <a:r>
              <a:rPr lang="uk-UA" altLang="uk-UA" sz="1800" dirty="0" err="1">
                <a:solidFill>
                  <a:srgbClr val="002060"/>
                </a:solidFill>
              </a:rPr>
              <a:t>uk</a:t>
            </a:r>
            <a:r>
              <a:rPr lang="uk-UA" altLang="uk-UA" sz="1800" dirty="0">
                <a:solidFill>
                  <a:srgbClr val="002060"/>
                </a:solidFill>
              </a:rPr>
              <a:t>, єдине джерело україномовних новин </a:t>
            </a:r>
          </a:p>
          <a:p>
            <a:pPr marR="0" lvl="0" algn="l" defTabSz="914400" rtl="0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uk-UA" altLang="uk-UA" sz="1800" b="1" dirty="0" err="1">
                <a:solidFill>
                  <a:srgbClr val="002060"/>
                </a:solidFill>
              </a:rPr>
              <a:t>Vanilla</a:t>
            </a:r>
            <a:r>
              <a:rPr lang="uk-UA" altLang="uk-UA" sz="1800" b="1" dirty="0">
                <a:solidFill>
                  <a:srgbClr val="002060"/>
                </a:solidFill>
              </a:rPr>
              <a:t> </a:t>
            </a:r>
            <a:r>
              <a:rPr lang="uk-UA" altLang="uk-UA" sz="1800" b="1" dirty="0" err="1">
                <a:solidFill>
                  <a:srgbClr val="002060"/>
                </a:solidFill>
              </a:rPr>
              <a:t>JavaScript</a:t>
            </a:r>
            <a:r>
              <a:rPr lang="de-AT" altLang="uk-UA" sz="1800" b="1" dirty="0">
                <a:solidFill>
                  <a:srgbClr val="002060"/>
                </a:solidFill>
              </a:rPr>
              <a:t>: </a:t>
            </a:r>
            <a:r>
              <a:rPr lang="uk-UA" altLang="uk-UA" sz="1800" dirty="0">
                <a:solidFill>
                  <a:srgbClr val="002060"/>
                </a:solidFill>
              </a:rPr>
              <a:t>без фреймворків, </a:t>
            </a:r>
            <a:r>
              <a:rPr lang="uk-UA" altLang="uk-UA" sz="1800" dirty="0" err="1">
                <a:solidFill>
                  <a:srgbClr val="002060"/>
                </a:solidFill>
              </a:rPr>
              <a:t>Fetch</a:t>
            </a:r>
            <a:r>
              <a:rPr lang="uk-UA" altLang="uk-UA" sz="1800" dirty="0">
                <a:solidFill>
                  <a:srgbClr val="002060"/>
                </a:solidFill>
              </a:rPr>
              <a:t> API для HTTP-запитів, </a:t>
            </a:r>
            <a:r>
              <a:rPr lang="uk-UA" altLang="uk-UA" sz="1800" dirty="0" err="1">
                <a:solidFill>
                  <a:srgbClr val="002060"/>
                </a:solidFill>
              </a:rPr>
              <a:t>Set</a:t>
            </a:r>
            <a:r>
              <a:rPr lang="uk-UA" altLang="uk-UA" sz="1800" dirty="0">
                <a:solidFill>
                  <a:srgbClr val="002060"/>
                </a:solidFill>
              </a:rPr>
              <a:t> для</a:t>
            </a:r>
            <a:r>
              <a:rPr lang="de-AT" altLang="uk-UA" sz="1800" dirty="0">
                <a:solidFill>
                  <a:srgbClr val="002060"/>
                </a:solidFill>
              </a:rPr>
              <a:t> </a:t>
            </a:r>
            <a:r>
              <a:rPr lang="uk-UA" altLang="uk-UA" sz="1800" dirty="0">
                <a:solidFill>
                  <a:srgbClr val="002060"/>
                </a:solidFill>
              </a:rPr>
              <a:t>перевірки закладок </a:t>
            </a:r>
          </a:p>
          <a:p>
            <a:pPr marR="0" lvl="0" algn="l" defTabSz="914400" rtl="0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uk-UA" altLang="uk-UA" sz="1800" b="1" dirty="0">
                <a:solidFill>
                  <a:srgbClr val="002060"/>
                </a:solidFill>
              </a:rPr>
              <a:t>CSS </a:t>
            </a:r>
            <a:r>
              <a:rPr lang="uk-UA" altLang="uk-UA" sz="1800" b="1" dirty="0" err="1">
                <a:solidFill>
                  <a:srgbClr val="002060"/>
                </a:solidFill>
              </a:rPr>
              <a:t>Custom</a:t>
            </a:r>
            <a:r>
              <a:rPr lang="uk-UA" altLang="uk-UA" sz="1800" b="1" dirty="0">
                <a:solidFill>
                  <a:srgbClr val="002060"/>
                </a:solidFill>
              </a:rPr>
              <a:t> </a:t>
            </a:r>
            <a:r>
              <a:rPr lang="uk-UA" altLang="uk-UA" sz="1800" b="1" dirty="0" err="1">
                <a:solidFill>
                  <a:srgbClr val="002060"/>
                </a:solidFill>
              </a:rPr>
              <a:t>Properties</a:t>
            </a:r>
            <a:r>
              <a:rPr lang="de-AT" altLang="uk-UA" sz="1800" b="1" dirty="0">
                <a:solidFill>
                  <a:srgbClr val="002060"/>
                </a:solidFill>
              </a:rPr>
              <a:t>:</a:t>
            </a:r>
            <a:r>
              <a:rPr lang="uk-UA" altLang="uk-UA" sz="1800" b="1" dirty="0">
                <a:solidFill>
                  <a:srgbClr val="002060"/>
                </a:solidFill>
              </a:rPr>
              <a:t> </a:t>
            </a:r>
            <a:r>
              <a:rPr lang="uk-UA" altLang="uk-UA" sz="1800" dirty="0">
                <a:solidFill>
                  <a:srgbClr val="002060"/>
                </a:solidFill>
              </a:rPr>
              <a:t>миттєве перемикання світлої/темної теми через </a:t>
            </a:r>
            <a:r>
              <a:rPr lang="uk-UA" altLang="uk-UA" sz="1800" dirty="0" err="1">
                <a:solidFill>
                  <a:srgbClr val="002060"/>
                </a:solidFill>
              </a:rPr>
              <a:t>data-theme</a:t>
            </a:r>
            <a:r>
              <a:rPr lang="uk-UA" altLang="uk-UA" sz="1800" dirty="0">
                <a:solidFill>
                  <a:srgbClr val="002060"/>
                </a:solidFill>
              </a:rPr>
              <a:t> атрибут </a:t>
            </a:r>
          </a:p>
          <a:p>
            <a:pPr marR="0" lvl="0" algn="l" defTabSz="914400" rtl="0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de-AT" altLang="uk-UA" sz="1800" b="1" dirty="0">
                <a:solidFill>
                  <a:srgbClr val="002060"/>
                </a:solidFill>
              </a:rPr>
              <a:t>D</a:t>
            </a:r>
            <a:r>
              <a:rPr lang="uk-UA" altLang="uk-UA" sz="1800" b="1" dirty="0" err="1">
                <a:solidFill>
                  <a:srgbClr val="002060"/>
                </a:solidFill>
              </a:rPr>
              <a:t>otenv</a:t>
            </a:r>
            <a:r>
              <a:rPr lang="de-AT" altLang="uk-UA" sz="1800" b="1" dirty="0">
                <a:solidFill>
                  <a:srgbClr val="002060"/>
                </a:solidFill>
              </a:rPr>
              <a:t>: </a:t>
            </a:r>
            <a:r>
              <a:rPr lang="uk-UA" altLang="uk-UA" sz="1800" dirty="0">
                <a:solidFill>
                  <a:srgbClr val="002060"/>
                </a:solidFill>
              </a:rPr>
              <a:t>API-ключі у .</a:t>
            </a:r>
            <a:r>
              <a:rPr lang="uk-UA" altLang="uk-UA" sz="1800" dirty="0" err="1">
                <a:solidFill>
                  <a:srgbClr val="002060"/>
                </a:solidFill>
              </a:rPr>
              <a:t>env</a:t>
            </a:r>
            <a:r>
              <a:rPr lang="uk-UA" altLang="uk-UA" sz="1800" dirty="0">
                <a:solidFill>
                  <a:srgbClr val="002060"/>
                </a:solidFill>
              </a:rPr>
              <a:t>, не потрапляють у репозиторій </a:t>
            </a:r>
          </a:p>
        </p:txBody>
      </p:sp>
    </p:spTree>
    <p:extLst>
      <p:ext uri="{BB962C8B-B14F-4D97-AF65-F5344CB8AC3E}">
        <p14:creationId xmlns:p14="http://schemas.microsoft.com/office/powerpoint/2010/main" val="1215554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D7AD4-82B5-EFFB-2A19-7312AE3AC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52E768-3659-5C76-9CD3-D484D5DA21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9823" y="1084806"/>
            <a:ext cx="9144000" cy="1846659"/>
          </a:xfrm>
        </p:spPr>
        <p:txBody>
          <a:bodyPr/>
          <a:lstStyle/>
          <a:p>
            <a:r>
              <a:rPr lang="uk-UA" dirty="0">
                <a:solidFill>
                  <a:srgbClr val="002060"/>
                </a:solidFill>
              </a:rPr>
              <a:t>Реалізація системи</a:t>
            </a: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880920-75E6-82E5-D67D-DC3151209A4E}"/>
              </a:ext>
            </a:extLst>
          </p:cNvPr>
          <p:cNvSpPr txBox="1"/>
          <p:nvPr/>
        </p:nvSpPr>
        <p:spPr>
          <a:xfrm>
            <a:off x="9136251" y="6350230"/>
            <a:ext cx="30292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9/1</a:t>
            </a:r>
            <a:r>
              <a:rPr lang="de-AT" sz="2400" dirty="0">
                <a:solidFill>
                  <a:schemeClr val="bg1"/>
                </a:solidFill>
              </a:rPr>
              <a:t>2</a:t>
            </a:r>
            <a:endParaRPr lang="uk-UA" sz="2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896E69-13F3-BF19-7C69-90F25394A1B5}"/>
              </a:ext>
            </a:extLst>
          </p:cNvPr>
          <p:cNvSpPr txBox="1"/>
          <p:nvPr/>
        </p:nvSpPr>
        <p:spPr>
          <a:xfrm>
            <a:off x="940525" y="82905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D30E37-5BC5-F714-3148-C7B9C2ADD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71" y="2332965"/>
            <a:ext cx="5385320" cy="28828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5697C3-3270-BF71-8DF9-78FDCA7F3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591" y="2332965"/>
            <a:ext cx="5385320" cy="2882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985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95256" y="516578"/>
            <a:ext cx="10503159" cy="2561196"/>
          </a:xfrm>
        </p:spPr>
        <p:txBody>
          <a:bodyPr/>
          <a:lstStyle/>
          <a:p>
            <a:r>
              <a:rPr lang="uk-UA" dirty="0">
                <a:solidFill>
                  <a:srgbClr val="002060"/>
                </a:solidFill>
              </a:rPr>
              <a:t>Тестування та верифікація</a:t>
            </a: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4" name="TextBox 3"/>
          <p:cNvSpPr txBox="1"/>
          <p:nvPr/>
        </p:nvSpPr>
        <p:spPr>
          <a:xfrm>
            <a:off x="11158330" y="6350230"/>
            <a:ext cx="1007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1</a:t>
            </a:r>
            <a:r>
              <a:rPr lang="de-AT" sz="2400" dirty="0">
                <a:solidFill>
                  <a:schemeClr val="bg1"/>
                </a:solidFill>
              </a:rPr>
              <a:t>0</a:t>
            </a:r>
            <a:r>
              <a:rPr lang="uk-UA" sz="2400" dirty="0">
                <a:solidFill>
                  <a:schemeClr val="bg1"/>
                </a:solidFill>
              </a:rPr>
              <a:t>/1</a:t>
            </a:r>
            <a:r>
              <a:rPr lang="de-AT" sz="2400" dirty="0">
                <a:solidFill>
                  <a:schemeClr val="bg1"/>
                </a:solidFill>
              </a:rPr>
              <a:t>2</a:t>
            </a:r>
            <a:endParaRPr lang="uk-UA" sz="24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AE98D61-4429-4771-AD37-23697C40E2C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463672" y="2561451"/>
            <a:ext cx="996632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uk-UA" altLang="uk-UA" sz="1600" dirty="0">
                <a:solidFill>
                  <a:srgbClr val="002060"/>
                </a:solidFill>
              </a:rPr>
              <a:t>Тестування та налаштування</a:t>
            </a:r>
          </a:p>
          <a:p>
            <a:pPr marR="0" lvl="0" algn="l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uk-UA" altLang="uk-UA" sz="1600" dirty="0">
                <a:solidFill>
                  <a:srgbClr val="002060"/>
                </a:solidFill>
              </a:rPr>
              <a:t>Для перевірки коректності роботи застосунку використано вбудований модуль </a:t>
            </a:r>
            <a:r>
              <a:rPr lang="uk-UA" altLang="uk-UA" sz="1600" dirty="0" err="1">
                <a:solidFill>
                  <a:srgbClr val="002060"/>
                </a:solidFill>
              </a:rPr>
              <a:t>node:test</a:t>
            </a:r>
            <a:r>
              <a:rPr lang="uk-UA" altLang="uk-UA" sz="1600" dirty="0">
                <a:solidFill>
                  <a:srgbClr val="002060"/>
                </a:solidFill>
              </a:rPr>
              <a:t>, доступний з Node.js 18 без встановлення додаткових </a:t>
            </a:r>
            <a:r>
              <a:rPr lang="uk-UA" altLang="uk-UA" sz="1600" dirty="0" err="1">
                <a:solidFill>
                  <a:srgbClr val="002060"/>
                </a:solidFill>
              </a:rPr>
              <a:t>залежностей</a:t>
            </a:r>
            <a:r>
              <a:rPr lang="uk-UA" altLang="uk-UA" sz="1600" dirty="0">
                <a:solidFill>
                  <a:srgbClr val="002060"/>
                </a:solidFill>
              </a:rPr>
              <a:t>.</a:t>
            </a:r>
          </a:p>
          <a:p>
            <a:pPr marR="0" lvl="0" algn="l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uk-UA" altLang="uk-UA" sz="1600" dirty="0">
                <a:solidFill>
                  <a:srgbClr val="002060"/>
                </a:solidFill>
              </a:rPr>
              <a:t>Написано три автоматичних тести. Перший перевіряє функцію </a:t>
            </a:r>
            <a:r>
              <a:rPr lang="uk-UA" altLang="uk-UA" sz="1600" dirty="0" err="1">
                <a:solidFill>
                  <a:srgbClr val="002060"/>
                </a:solidFill>
              </a:rPr>
              <a:t>addBookmark</a:t>
            </a:r>
            <a:r>
              <a:rPr lang="uk-UA" altLang="uk-UA" sz="1600" dirty="0">
                <a:solidFill>
                  <a:srgbClr val="002060"/>
                </a:solidFill>
              </a:rPr>
              <a:t>() додає тестовий запис і через </a:t>
            </a:r>
            <a:r>
              <a:rPr lang="uk-UA" altLang="uk-UA" sz="1600" dirty="0" err="1">
                <a:solidFill>
                  <a:srgbClr val="002060"/>
                </a:solidFill>
              </a:rPr>
              <a:t>getAllBookmarks</a:t>
            </a:r>
            <a:r>
              <a:rPr lang="uk-UA" altLang="uk-UA" sz="1600" dirty="0">
                <a:solidFill>
                  <a:srgbClr val="002060"/>
                </a:solidFill>
              </a:rPr>
              <a:t>() перевіряє що він збережений з правильними полями. Другий перевіряє </a:t>
            </a:r>
            <a:r>
              <a:rPr lang="uk-UA" altLang="uk-UA" sz="1600" dirty="0" err="1">
                <a:solidFill>
                  <a:srgbClr val="002060"/>
                </a:solidFill>
              </a:rPr>
              <a:t>removeBookmark</a:t>
            </a:r>
            <a:r>
              <a:rPr lang="uk-UA" altLang="uk-UA" sz="1600" dirty="0">
                <a:solidFill>
                  <a:srgbClr val="002060"/>
                </a:solidFill>
              </a:rPr>
              <a:t>() видаляє запис і підтверджує його відсутність у базі. Третій піднімає реальний Express-сервер на порту 0, виконує GET /</a:t>
            </a:r>
            <a:r>
              <a:rPr lang="uk-UA" altLang="uk-UA" sz="1600" dirty="0" err="1">
                <a:solidFill>
                  <a:srgbClr val="002060"/>
                </a:solidFill>
              </a:rPr>
              <a:t>api</a:t>
            </a:r>
            <a:r>
              <a:rPr lang="uk-UA" altLang="uk-UA" sz="1600" dirty="0">
                <a:solidFill>
                  <a:srgbClr val="002060"/>
                </a:solidFill>
              </a:rPr>
              <a:t>/</a:t>
            </a:r>
            <a:r>
              <a:rPr lang="uk-UA" altLang="uk-UA" sz="1600" dirty="0" err="1">
                <a:solidFill>
                  <a:srgbClr val="002060"/>
                </a:solidFill>
              </a:rPr>
              <a:t>bookmarks</a:t>
            </a:r>
            <a:r>
              <a:rPr lang="uk-UA" altLang="uk-UA" sz="1600" dirty="0">
                <a:solidFill>
                  <a:srgbClr val="002060"/>
                </a:solidFill>
              </a:rPr>
              <a:t> і перевіряє що відповідь має статус 200 і тіло є масивом JSON. Усі три тести проходять успішно. Запуск: </a:t>
            </a:r>
            <a:r>
              <a:rPr lang="uk-UA" altLang="uk-UA" sz="1600" dirty="0" err="1">
                <a:solidFill>
                  <a:srgbClr val="002060"/>
                </a:solidFill>
              </a:rPr>
              <a:t>npm</a:t>
            </a:r>
            <a:r>
              <a:rPr lang="uk-UA" altLang="uk-UA" sz="1600" dirty="0">
                <a:solidFill>
                  <a:srgbClr val="002060"/>
                </a:solidFill>
              </a:rPr>
              <a:t> </a:t>
            </a:r>
            <a:r>
              <a:rPr lang="uk-UA" altLang="uk-UA" sz="1600" dirty="0" err="1">
                <a:solidFill>
                  <a:srgbClr val="002060"/>
                </a:solidFill>
              </a:rPr>
              <a:t>test</a:t>
            </a:r>
            <a:r>
              <a:rPr lang="uk-UA" altLang="uk-UA" sz="1600" dirty="0">
                <a:solidFill>
                  <a:srgbClr val="002060"/>
                </a:solidFill>
              </a:rPr>
              <a:t>.</a:t>
            </a:r>
          </a:p>
          <a:p>
            <a:pPr marR="0" lvl="0" algn="l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uk-UA" altLang="uk-UA" sz="1600" dirty="0">
                <a:solidFill>
                  <a:srgbClr val="002060"/>
                </a:solidFill>
              </a:rPr>
              <a:t>Якість системи забезпечена на кількох рівнях. </a:t>
            </a:r>
            <a:r>
              <a:rPr lang="uk-UA" altLang="uk-UA" sz="1600" dirty="0" err="1">
                <a:solidFill>
                  <a:srgbClr val="002060"/>
                </a:solidFill>
              </a:rPr>
              <a:t>Параметризовані</a:t>
            </a:r>
            <a:r>
              <a:rPr lang="uk-UA" altLang="uk-UA" sz="1600" dirty="0">
                <a:solidFill>
                  <a:srgbClr val="002060"/>
                </a:solidFill>
              </a:rPr>
              <a:t> SQL-запити з </a:t>
            </a:r>
            <a:r>
              <a:rPr lang="uk-UA" altLang="uk-UA" sz="1600" dirty="0" err="1">
                <a:solidFill>
                  <a:srgbClr val="002060"/>
                </a:solidFill>
              </a:rPr>
              <a:t>плейсхолдерами</a:t>
            </a:r>
            <a:r>
              <a:rPr lang="uk-UA" altLang="uk-UA" sz="1600" dirty="0">
                <a:solidFill>
                  <a:srgbClr val="002060"/>
                </a:solidFill>
              </a:rPr>
              <a:t> (?) унеможливлюють SQL-ін'єкції. Білий список полів ['</a:t>
            </a:r>
            <a:r>
              <a:rPr lang="uk-UA" altLang="uk-UA" sz="1600" dirty="0" err="1">
                <a:solidFill>
                  <a:srgbClr val="002060"/>
                </a:solidFill>
              </a:rPr>
              <a:t>notes</a:t>
            </a:r>
            <a:r>
              <a:rPr lang="uk-UA" altLang="uk-UA" sz="1600" dirty="0">
                <a:solidFill>
                  <a:srgbClr val="002060"/>
                </a:solidFill>
              </a:rPr>
              <a:t>', '</a:t>
            </a:r>
            <a:r>
              <a:rPr lang="uk-UA" altLang="uk-UA" sz="1600" dirty="0" err="1">
                <a:solidFill>
                  <a:srgbClr val="002060"/>
                </a:solidFill>
              </a:rPr>
              <a:t>is_read</a:t>
            </a:r>
            <a:r>
              <a:rPr lang="uk-UA" altLang="uk-UA" sz="1600" dirty="0">
                <a:solidFill>
                  <a:srgbClr val="002060"/>
                </a:solidFill>
              </a:rPr>
              <a:t>'] у функції </a:t>
            </a:r>
            <a:r>
              <a:rPr lang="uk-UA" altLang="uk-UA" sz="1600" dirty="0" err="1">
                <a:solidFill>
                  <a:srgbClr val="002060"/>
                </a:solidFill>
              </a:rPr>
              <a:t>updateBookmark</a:t>
            </a:r>
            <a:r>
              <a:rPr lang="uk-UA" altLang="uk-UA" sz="1600" dirty="0">
                <a:solidFill>
                  <a:srgbClr val="002060"/>
                </a:solidFill>
              </a:rPr>
              <a:t>() захищає від спроби оновити первинний ключ або системні поля. Міграції через ALTER TABLE в блоках </a:t>
            </a:r>
            <a:r>
              <a:rPr lang="uk-UA" altLang="uk-UA" sz="1600" dirty="0" err="1">
                <a:solidFill>
                  <a:srgbClr val="002060"/>
                </a:solidFill>
              </a:rPr>
              <a:t>try</a:t>
            </a:r>
            <a:r>
              <a:rPr lang="uk-UA" altLang="uk-UA" sz="1600" dirty="0">
                <a:solidFill>
                  <a:srgbClr val="002060"/>
                </a:solidFill>
              </a:rPr>
              <a:t>/</a:t>
            </a:r>
            <a:r>
              <a:rPr lang="uk-UA" altLang="uk-UA" sz="1600" dirty="0" err="1">
                <a:solidFill>
                  <a:srgbClr val="002060"/>
                </a:solidFill>
              </a:rPr>
              <a:t>catch</a:t>
            </a:r>
            <a:r>
              <a:rPr lang="uk-UA" altLang="uk-UA" sz="1600" dirty="0">
                <a:solidFill>
                  <a:srgbClr val="002060"/>
                </a:solidFill>
              </a:rPr>
              <a:t> дозволяють безпечно додавати нові поля до існуючої бази без втрати даних.</a:t>
            </a:r>
          </a:p>
        </p:txBody>
      </p:sp>
    </p:spTree>
    <p:extLst>
      <p:ext uri="{BB962C8B-B14F-4D97-AF65-F5344CB8AC3E}">
        <p14:creationId xmlns:p14="http://schemas.microsoft.com/office/powerpoint/2010/main" val="2076628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63894" y="516578"/>
            <a:ext cx="11464212" cy="2385159"/>
          </a:xfrm>
        </p:spPr>
        <p:txBody>
          <a:bodyPr/>
          <a:lstStyle/>
          <a:p>
            <a:r>
              <a:rPr lang="uk-UA" dirty="0">
                <a:solidFill>
                  <a:srgbClr val="002060"/>
                </a:solidFill>
              </a:rPr>
              <a:t>Впровадження та супровід</a:t>
            </a: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4" name="TextBox 3"/>
          <p:cNvSpPr txBox="1"/>
          <p:nvPr/>
        </p:nvSpPr>
        <p:spPr>
          <a:xfrm>
            <a:off x="11158330" y="6350230"/>
            <a:ext cx="1007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1</a:t>
            </a:r>
            <a:r>
              <a:rPr lang="de-AT" sz="2400" dirty="0">
                <a:solidFill>
                  <a:schemeClr val="bg1"/>
                </a:solidFill>
              </a:rPr>
              <a:t>1</a:t>
            </a:r>
            <a:r>
              <a:rPr lang="uk-UA" sz="2400" dirty="0">
                <a:solidFill>
                  <a:schemeClr val="bg1"/>
                </a:solidFill>
              </a:rPr>
              <a:t>/1</a:t>
            </a:r>
            <a:r>
              <a:rPr lang="de-AT" sz="2400" dirty="0">
                <a:solidFill>
                  <a:schemeClr val="bg1"/>
                </a:solidFill>
              </a:rPr>
              <a:t>2</a:t>
            </a:r>
            <a:endParaRPr lang="uk-UA" sz="24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197A35C-4A47-72EF-8EDE-89858616C53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60106" y="2220042"/>
            <a:ext cx="987178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uk-UA" altLang="uk-UA" sz="1600" dirty="0">
                <a:solidFill>
                  <a:srgbClr val="002060"/>
                </a:solidFill>
              </a:rPr>
              <a:t>Розгортання додатку </a:t>
            </a:r>
            <a:r>
              <a:rPr lang="uk-UA" altLang="uk-UA" sz="1600" dirty="0" err="1">
                <a:solidFill>
                  <a:srgbClr val="002060"/>
                </a:solidFill>
              </a:rPr>
              <a:t>NewsHub</a:t>
            </a:r>
            <a:r>
              <a:rPr lang="uk-UA" altLang="uk-UA" sz="1600" dirty="0">
                <a:solidFill>
                  <a:srgbClr val="002060"/>
                </a:solidFill>
              </a:rPr>
              <a:t> виконується локально в кілька кроків. Спочатку клонується репозиторій з </a:t>
            </a:r>
            <a:r>
              <a:rPr lang="uk-UA" altLang="uk-UA" sz="1600" dirty="0" err="1">
                <a:solidFill>
                  <a:srgbClr val="002060"/>
                </a:solidFill>
              </a:rPr>
              <a:t>GitHub</a:t>
            </a:r>
            <a:r>
              <a:rPr lang="uk-UA" altLang="uk-UA" sz="1600" dirty="0">
                <a:solidFill>
                  <a:srgbClr val="002060"/>
                </a:solidFill>
              </a:rPr>
              <a:t>. Далі створюється файл .</a:t>
            </a:r>
            <a:r>
              <a:rPr lang="uk-UA" altLang="uk-UA" sz="1600" dirty="0" err="1">
                <a:solidFill>
                  <a:srgbClr val="002060"/>
                </a:solidFill>
              </a:rPr>
              <a:t>env</a:t>
            </a:r>
            <a:r>
              <a:rPr lang="uk-UA" altLang="uk-UA" sz="1600" dirty="0">
                <a:solidFill>
                  <a:srgbClr val="002060"/>
                </a:solidFill>
              </a:rPr>
              <a:t> з ключами NEWS_API_KEY та GNEWS_API_KEY для доступу до зовнішніх сервісів. Після цього виконується </a:t>
            </a:r>
            <a:r>
              <a:rPr lang="uk-UA" altLang="uk-UA" sz="1600" dirty="0" err="1">
                <a:solidFill>
                  <a:srgbClr val="002060"/>
                </a:solidFill>
              </a:rPr>
              <a:t>npm</a:t>
            </a:r>
            <a:r>
              <a:rPr lang="uk-UA" altLang="uk-UA" sz="1600" dirty="0">
                <a:solidFill>
                  <a:srgbClr val="002060"/>
                </a:solidFill>
              </a:rPr>
              <a:t> </a:t>
            </a:r>
            <a:r>
              <a:rPr lang="uk-UA" altLang="uk-UA" sz="1600" dirty="0" err="1">
                <a:solidFill>
                  <a:srgbClr val="002060"/>
                </a:solidFill>
              </a:rPr>
              <a:t>install</a:t>
            </a:r>
            <a:r>
              <a:rPr lang="uk-UA" altLang="uk-UA" sz="1600" dirty="0">
                <a:solidFill>
                  <a:srgbClr val="002060"/>
                </a:solidFill>
              </a:rPr>
              <a:t> для встановлення </a:t>
            </a:r>
            <a:r>
              <a:rPr lang="uk-UA" altLang="uk-UA" sz="1600" dirty="0" err="1">
                <a:solidFill>
                  <a:srgbClr val="002060"/>
                </a:solidFill>
              </a:rPr>
              <a:t>залежностей</a:t>
            </a:r>
            <a:r>
              <a:rPr lang="uk-UA" altLang="uk-UA" sz="1600" dirty="0">
                <a:solidFill>
                  <a:srgbClr val="002060"/>
                </a:solidFill>
              </a:rPr>
              <a:t> і </a:t>
            </a:r>
            <a:r>
              <a:rPr lang="uk-UA" altLang="uk-UA" sz="1600" dirty="0" err="1">
                <a:solidFill>
                  <a:srgbClr val="002060"/>
                </a:solidFill>
              </a:rPr>
              <a:t>npm</a:t>
            </a:r>
            <a:r>
              <a:rPr lang="uk-UA" altLang="uk-UA" sz="1600" dirty="0">
                <a:solidFill>
                  <a:srgbClr val="002060"/>
                </a:solidFill>
              </a:rPr>
              <a:t> </a:t>
            </a:r>
            <a:r>
              <a:rPr lang="uk-UA" altLang="uk-UA" sz="1600" dirty="0" err="1">
                <a:solidFill>
                  <a:srgbClr val="002060"/>
                </a:solidFill>
              </a:rPr>
              <a:t>start</a:t>
            </a:r>
            <a:r>
              <a:rPr lang="uk-UA" altLang="uk-UA" sz="1600" dirty="0">
                <a:solidFill>
                  <a:srgbClr val="002060"/>
                </a:solidFill>
              </a:rPr>
              <a:t> для запуску сервера. Додаток доступний у браузері за </a:t>
            </a:r>
            <a:r>
              <a:rPr lang="uk-UA" altLang="uk-UA" sz="1600" dirty="0" err="1">
                <a:solidFill>
                  <a:srgbClr val="002060"/>
                </a:solidFill>
              </a:rPr>
              <a:t>адресою</a:t>
            </a:r>
            <a:r>
              <a:rPr lang="uk-UA" altLang="uk-UA" sz="1600" dirty="0">
                <a:solidFill>
                  <a:srgbClr val="002060"/>
                </a:solidFill>
              </a:rPr>
              <a:t> http://localhost:3000.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uk-UA" altLang="uk-UA" sz="1600" dirty="0">
                <a:solidFill>
                  <a:srgbClr val="002060"/>
                </a:solidFill>
              </a:rPr>
              <a:t>Документація для користувачів включає опис усіх основних функцій: перегляд новин за категоріями, пошук із збереженням історії запитів, додавання закладок з нотатками, перемикання мови та теми оформлення. Документація для розробників описує структуру проєкту, поділ на модулі (server.js, </a:t>
            </a:r>
            <a:r>
              <a:rPr lang="uk-UA" altLang="uk-UA" sz="1600" dirty="0" err="1">
                <a:solidFill>
                  <a:srgbClr val="002060"/>
                </a:solidFill>
              </a:rPr>
              <a:t>routes</a:t>
            </a:r>
            <a:r>
              <a:rPr lang="uk-UA" altLang="uk-UA" sz="1600" dirty="0">
                <a:solidFill>
                  <a:srgbClr val="002060"/>
                </a:solidFill>
              </a:rPr>
              <a:t>/, db.js, </a:t>
            </a:r>
            <a:r>
              <a:rPr lang="uk-UA" altLang="uk-UA" sz="1600" dirty="0" err="1">
                <a:solidFill>
                  <a:srgbClr val="002060"/>
                </a:solidFill>
              </a:rPr>
              <a:t>public</a:t>
            </a:r>
            <a:r>
              <a:rPr lang="uk-UA" altLang="uk-UA" sz="1600" dirty="0">
                <a:solidFill>
                  <a:srgbClr val="002060"/>
                </a:solidFill>
              </a:rPr>
              <a:t>/), перелік усіх 11 API-</a:t>
            </a:r>
            <a:r>
              <a:rPr lang="uk-UA" altLang="uk-UA" sz="1600" dirty="0" err="1">
                <a:solidFill>
                  <a:srgbClr val="002060"/>
                </a:solidFill>
              </a:rPr>
              <a:t>ендпоінтів</a:t>
            </a:r>
            <a:r>
              <a:rPr lang="uk-UA" altLang="uk-UA" sz="1600" dirty="0">
                <a:solidFill>
                  <a:srgbClr val="002060"/>
                </a:solidFill>
              </a:rPr>
              <a:t> та схему бази даних з трьома таблицями.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uk-UA" altLang="uk-UA" sz="1600" dirty="0">
                <a:solidFill>
                  <a:srgbClr val="002060"/>
                </a:solidFill>
              </a:rPr>
              <a:t>Перспективи подальшого розвитку системи: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uk-UA" altLang="uk-UA" sz="1600" dirty="0">
                <a:solidFill>
                  <a:srgbClr val="002060"/>
                </a:solidFill>
              </a:rPr>
              <a:t>додавання системи авторизації користувачів з особистим кабінетом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uk-UA" altLang="uk-UA" sz="1600" dirty="0" err="1">
                <a:solidFill>
                  <a:srgbClr val="002060"/>
                </a:solidFill>
              </a:rPr>
              <a:t>push</a:t>
            </a:r>
            <a:r>
              <a:rPr lang="uk-UA" altLang="uk-UA" sz="1600" dirty="0">
                <a:solidFill>
                  <a:srgbClr val="002060"/>
                </a:solidFill>
              </a:rPr>
              <a:t>-сповіщення про нові матеріали у збережених категоріях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uk-UA" altLang="uk-UA" sz="1600" dirty="0">
                <a:solidFill>
                  <a:srgbClr val="002060"/>
                </a:solidFill>
              </a:rPr>
              <a:t>підтримка більше двох мов інтерфейсу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uk-UA" altLang="uk-UA" sz="1600" dirty="0">
                <a:solidFill>
                  <a:srgbClr val="002060"/>
                </a:solidFill>
              </a:rPr>
              <a:t>розробка мобільного застосунку на базі того самого REST API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uk-UA" altLang="uk-UA" sz="1600" dirty="0">
                <a:solidFill>
                  <a:srgbClr val="002060"/>
                </a:solidFill>
              </a:rPr>
              <a:t>оптимізація продуктивності та </a:t>
            </a:r>
            <a:r>
              <a:rPr lang="uk-UA" altLang="uk-UA" sz="1600" dirty="0" err="1">
                <a:solidFill>
                  <a:srgbClr val="002060"/>
                </a:solidFill>
              </a:rPr>
              <a:t>кешування</a:t>
            </a:r>
            <a:r>
              <a:rPr lang="uk-UA" altLang="uk-UA" sz="1600" dirty="0">
                <a:solidFill>
                  <a:srgbClr val="002060"/>
                </a:solidFill>
              </a:rPr>
              <a:t> відповідей зовнішніх API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273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98644" y="1318071"/>
            <a:ext cx="9144000" cy="1846659"/>
          </a:xfrm>
        </p:spPr>
        <p:txBody>
          <a:bodyPr/>
          <a:lstStyle/>
          <a:p>
            <a:r>
              <a:rPr lang="uk-UA" dirty="0">
                <a:solidFill>
                  <a:srgbClr val="002060"/>
                </a:solidFill>
              </a:rPr>
              <a:t>Висновки</a:t>
            </a: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1524000" y="2417051"/>
            <a:ext cx="9144000" cy="3754874"/>
          </a:xfrm>
        </p:spPr>
        <p:txBody>
          <a:bodyPr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uk-UA" sz="2000" dirty="0">
                <a:solidFill>
                  <a:srgbClr val="002060"/>
                </a:solidFill>
              </a:rPr>
              <a:t>У ході виконання курсової роботи розроблено веб-додаток «</a:t>
            </a:r>
            <a:r>
              <a:rPr lang="de-AT" sz="2000" dirty="0" err="1">
                <a:solidFill>
                  <a:srgbClr val="002060"/>
                </a:solidFill>
              </a:rPr>
              <a:t>NewsHub</a:t>
            </a:r>
            <a:r>
              <a:rPr lang="de-AT" sz="2000" dirty="0">
                <a:solidFill>
                  <a:srgbClr val="002060"/>
                </a:solidFill>
              </a:rPr>
              <a:t>» </a:t>
            </a:r>
            <a:r>
              <a:rPr lang="uk-UA" sz="2000" dirty="0" err="1">
                <a:solidFill>
                  <a:srgbClr val="002060"/>
                </a:solidFill>
              </a:rPr>
              <a:t>агрегатор</a:t>
            </a:r>
            <a:r>
              <a:rPr lang="uk-UA" sz="2000" dirty="0">
                <a:solidFill>
                  <a:srgbClr val="002060"/>
                </a:solidFill>
              </a:rPr>
              <a:t> новин з підтримкою двох мов (</a:t>
            </a:r>
            <a:r>
              <a:rPr lang="de-AT" sz="2000" dirty="0">
                <a:solidFill>
                  <a:srgbClr val="002060"/>
                </a:solidFill>
              </a:rPr>
              <a:t>EN/UA) </a:t>
            </a:r>
            <a:r>
              <a:rPr lang="uk-UA" sz="2000" dirty="0">
                <a:solidFill>
                  <a:srgbClr val="002060"/>
                </a:solidFill>
              </a:rPr>
              <a:t>та двох тем оформлення. Усі поставлені завдання виконано.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uk-UA" sz="2000" dirty="0">
                <a:solidFill>
                  <a:srgbClr val="002060"/>
                </a:solidFill>
              </a:rPr>
              <a:t>Реалізовано серверний </a:t>
            </a:r>
            <a:r>
              <a:rPr lang="de-AT" sz="2000" dirty="0">
                <a:solidFill>
                  <a:srgbClr val="002060"/>
                </a:solidFill>
              </a:rPr>
              <a:t>REST API </a:t>
            </a:r>
            <a:r>
              <a:rPr lang="uk-UA" sz="2000" dirty="0">
                <a:solidFill>
                  <a:srgbClr val="002060"/>
                </a:solidFill>
              </a:rPr>
              <a:t>на </a:t>
            </a:r>
            <a:r>
              <a:rPr lang="de-AT" sz="2000" dirty="0">
                <a:solidFill>
                  <a:srgbClr val="002060"/>
                </a:solidFill>
              </a:rPr>
              <a:t>Node.js / Express </a:t>
            </a:r>
            <a:r>
              <a:rPr lang="uk-UA" sz="2000" dirty="0">
                <a:solidFill>
                  <a:srgbClr val="002060"/>
                </a:solidFill>
              </a:rPr>
              <a:t>з 11 </a:t>
            </a:r>
            <a:r>
              <a:rPr lang="uk-UA" sz="2000" dirty="0" err="1">
                <a:solidFill>
                  <a:srgbClr val="002060"/>
                </a:solidFill>
              </a:rPr>
              <a:t>ендпоінтами</a:t>
            </a:r>
            <a:r>
              <a:rPr lang="uk-UA" sz="2000" dirty="0">
                <a:solidFill>
                  <a:srgbClr val="002060"/>
                </a:solidFill>
              </a:rPr>
              <a:t> у трьох </a:t>
            </a:r>
            <a:r>
              <a:rPr lang="uk-UA" sz="2000" dirty="0" err="1">
                <a:solidFill>
                  <a:srgbClr val="002060"/>
                </a:solidFill>
              </a:rPr>
              <a:t>роутерах</a:t>
            </a:r>
            <a:r>
              <a:rPr lang="uk-UA" sz="2000" dirty="0">
                <a:solidFill>
                  <a:srgbClr val="002060"/>
                </a:solidFill>
              </a:rPr>
              <a:t>. Спроєктовано базу даних </a:t>
            </a:r>
            <a:r>
              <a:rPr lang="de-AT" sz="2000" dirty="0">
                <a:solidFill>
                  <a:srgbClr val="002060"/>
                </a:solidFill>
              </a:rPr>
              <a:t>SQLite (sql.js) </a:t>
            </a:r>
            <a:r>
              <a:rPr lang="uk-UA" sz="2000" dirty="0">
                <a:solidFill>
                  <a:srgbClr val="002060"/>
                </a:solidFill>
              </a:rPr>
              <a:t>з трьома таблицями та повним </a:t>
            </a:r>
            <a:r>
              <a:rPr lang="de-AT" sz="2000" dirty="0">
                <a:solidFill>
                  <a:srgbClr val="002060"/>
                </a:solidFill>
              </a:rPr>
              <a:t>CRUD. </a:t>
            </a:r>
            <a:r>
              <a:rPr lang="uk-UA" sz="2000" dirty="0">
                <a:solidFill>
                  <a:srgbClr val="002060"/>
                </a:solidFill>
              </a:rPr>
              <a:t>Клієнтська частина написана на </a:t>
            </a:r>
            <a:r>
              <a:rPr lang="de-AT" sz="2000" dirty="0" err="1">
                <a:solidFill>
                  <a:srgbClr val="002060"/>
                </a:solidFill>
              </a:rPr>
              <a:t>vanilla</a:t>
            </a:r>
            <a:r>
              <a:rPr lang="de-AT" sz="2000" dirty="0">
                <a:solidFill>
                  <a:srgbClr val="002060"/>
                </a:solidFill>
              </a:rPr>
              <a:t> JavaScript </a:t>
            </a:r>
            <a:r>
              <a:rPr lang="uk-UA" sz="2000" dirty="0">
                <a:solidFill>
                  <a:srgbClr val="002060"/>
                </a:solidFill>
              </a:rPr>
              <a:t>та </a:t>
            </a:r>
            <a:r>
              <a:rPr lang="de-AT" sz="2000" dirty="0">
                <a:solidFill>
                  <a:srgbClr val="002060"/>
                </a:solidFill>
              </a:rPr>
              <a:t>CSS-</a:t>
            </a:r>
            <a:r>
              <a:rPr lang="uk-UA" sz="2000" dirty="0">
                <a:solidFill>
                  <a:srgbClr val="002060"/>
                </a:solidFill>
              </a:rPr>
              <a:t>тем. Інтегровано два зовнішніх сервіси </a:t>
            </a:r>
            <a:r>
              <a:rPr lang="de-AT" sz="2000" dirty="0" err="1">
                <a:solidFill>
                  <a:srgbClr val="002060"/>
                </a:solidFill>
              </a:rPr>
              <a:t>NewsAPI</a:t>
            </a:r>
            <a:r>
              <a:rPr lang="de-AT" sz="2000" dirty="0">
                <a:solidFill>
                  <a:srgbClr val="002060"/>
                </a:solidFill>
              </a:rPr>
              <a:t> </a:t>
            </a:r>
            <a:r>
              <a:rPr lang="uk-UA" sz="2000" dirty="0">
                <a:solidFill>
                  <a:srgbClr val="002060"/>
                </a:solidFill>
              </a:rPr>
              <a:t>та </a:t>
            </a:r>
            <a:r>
              <a:rPr lang="de-AT" sz="2000" dirty="0" err="1">
                <a:solidFill>
                  <a:srgbClr val="002060"/>
                </a:solidFill>
              </a:rPr>
              <a:t>GNews</a:t>
            </a:r>
            <a:r>
              <a:rPr lang="de-AT" sz="2000" dirty="0">
                <a:solidFill>
                  <a:srgbClr val="002060"/>
                </a:solidFill>
              </a:rPr>
              <a:t>. </a:t>
            </a:r>
            <a:r>
              <a:rPr lang="uk-UA" sz="2000" dirty="0">
                <a:solidFill>
                  <a:srgbClr val="002060"/>
                </a:solidFill>
              </a:rPr>
              <a:t>Написано три </a:t>
            </a:r>
            <a:r>
              <a:rPr lang="uk-UA" sz="2000" dirty="0" err="1">
                <a:solidFill>
                  <a:srgbClr val="002060"/>
                </a:solidFill>
              </a:rPr>
              <a:t>автотести</a:t>
            </a:r>
            <a:r>
              <a:rPr lang="uk-UA" sz="2000" dirty="0">
                <a:solidFill>
                  <a:srgbClr val="002060"/>
                </a:solidFill>
              </a:rPr>
              <a:t> (</a:t>
            </a:r>
            <a:r>
              <a:rPr lang="de-AT" sz="2000" dirty="0" err="1">
                <a:solidFill>
                  <a:srgbClr val="002060"/>
                </a:solidFill>
              </a:rPr>
              <a:t>node:test</a:t>
            </a:r>
            <a:r>
              <a:rPr lang="de-AT" sz="2000" dirty="0">
                <a:solidFill>
                  <a:srgbClr val="002060"/>
                </a:solidFill>
              </a:rPr>
              <a:t>) </a:t>
            </a:r>
            <a:r>
              <a:rPr lang="uk-UA" sz="2000" dirty="0">
                <a:solidFill>
                  <a:srgbClr val="002060"/>
                </a:solidFill>
              </a:rPr>
              <a:t>усі проходять успішно.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uk-UA" sz="2000" dirty="0">
                <a:solidFill>
                  <a:srgbClr val="002060"/>
                </a:solidFill>
              </a:rPr>
              <a:t>Практична цінність: додаток реалізує функціонал який у популярних </a:t>
            </a:r>
            <a:r>
              <a:rPr lang="uk-UA" sz="2000" dirty="0" err="1">
                <a:solidFill>
                  <a:srgbClr val="002060"/>
                </a:solidFill>
              </a:rPr>
              <a:t>агрегаторах</a:t>
            </a:r>
            <a:r>
              <a:rPr lang="uk-UA" sz="2000" dirty="0">
                <a:solidFill>
                  <a:srgbClr val="002060"/>
                </a:solidFill>
              </a:rPr>
              <a:t> доступний лише у платних версіях</a:t>
            </a:r>
            <a:r>
              <a:rPr lang="de-AT" sz="2000" dirty="0">
                <a:solidFill>
                  <a:srgbClr val="002060"/>
                </a:solidFill>
              </a:rPr>
              <a:t>.</a:t>
            </a:r>
            <a:r>
              <a:rPr lang="uk-UA" sz="3200" dirty="0"/>
              <a:t>до закладок, історія пошуку та підтримка української мови.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8330" y="6350230"/>
            <a:ext cx="1007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1</a:t>
            </a:r>
            <a:r>
              <a:rPr lang="de-AT" sz="2400" dirty="0">
                <a:solidFill>
                  <a:schemeClr val="bg1"/>
                </a:solidFill>
              </a:rPr>
              <a:t>2</a:t>
            </a:r>
            <a:r>
              <a:rPr lang="uk-UA" sz="2400" dirty="0">
                <a:solidFill>
                  <a:schemeClr val="bg1"/>
                </a:solidFill>
              </a:rPr>
              <a:t>/1</a:t>
            </a:r>
            <a:r>
              <a:rPr lang="de-AT" sz="2400" dirty="0">
                <a:solidFill>
                  <a:schemeClr val="bg1"/>
                </a:solidFill>
              </a:rPr>
              <a:t>2</a:t>
            </a:r>
            <a:endParaRPr lang="uk-UA" sz="24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</p:spTree>
    <p:extLst>
      <p:ext uri="{BB962C8B-B14F-4D97-AF65-F5344CB8AC3E}">
        <p14:creationId xmlns:p14="http://schemas.microsoft.com/office/powerpoint/2010/main" val="391281353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4">
  <a:themeElements>
    <a:clrScheme name="Офіс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фіс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4" id="{462375DE-8928-429B-B01E-09E2FDA995FC}" vid="{78FACF3B-D61D-4CDD-A381-200BC8A0536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0A0E88F3A47CCD40B815FDB2781F36D7" ma:contentTypeVersion="11" ma:contentTypeDescription="Створення нового документа." ma:contentTypeScope="" ma:versionID="e86b89613fd9ee28bd57f33be953ea9f">
  <xsd:schema xmlns:xsd="http://www.w3.org/2001/XMLSchema" xmlns:xs="http://www.w3.org/2001/XMLSchema" xmlns:p="http://schemas.microsoft.com/office/2006/metadata/properties" xmlns:ns3="25c2e4bf-2930-4cc6-930f-77f25df5369f" targetNamespace="http://schemas.microsoft.com/office/2006/metadata/properties" ma:root="true" ma:fieldsID="592390b97e95e9e76498c30ee7a554c8" ns3:_="">
    <xsd:import namespace="25c2e4bf-2930-4cc6-930f-77f25df5369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c2e4bf-2930-4cc6-930f-77f25df5369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вмісту"/>
        <xsd:element ref="dc:title" minOccurs="0" maxOccurs="1" ma:index="4" ma:displayName="Заголовок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5c2e4bf-2930-4cc6-930f-77f25df5369f" xsi:nil="true"/>
  </documentManagement>
</p:properties>
</file>

<file path=customXml/itemProps1.xml><?xml version="1.0" encoding="utf-8"?>
<ds:datastoreItem xmlns:ds="http://schemas.openxmlformats.org/officeDocument/2006/customXml" ds:itemID="{CC3B1B19-ADF5-4EDD-A9F9-08DE4D8BF3D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3B15E95-7E37-4FC5-A8EA-4CEA545970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c2e4bf-2930-4cc6-930f-77f25df5369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D05A0AE-C6F6-417A-B11C-D674651CB171}">
  <ds:schemaRefs>
    <ds:schemaRef ds:uri="http://purl.org/dc/elements/1.1/"/>
    <ds:schemaRef ds:uri="http://schemas.microsoft.com/office/2006/documentManagement/types"/>
    <ds:schemaRef ds:uri="http://purl.org/dc/terms/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25c2e4bf-2930-4cc6-930f-77f25df5369f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Тема4</Template>
  <TotalTime>110</TotalTime>
  <Words>1001</Words>
  <Application>Microsoft Office PowerPoint</Application>
  <PresentationFormat>Widescreen</PresentationFormat>
  <Paragraphs>93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Tahoma</vt:lpstr>
      <vt:lpstr>Тема4</vt:lpstr>
      <vt:lpstr>  Додаток для новин NewsHub Виконав: Слюсар Назарій Олегович, група ТВ-з41 Перевірив: Недашківський Олексій Леонідович GitHub репозиторій https://github.com/NazariiSliusar/Kursova_web.git 2026</vt:lpstr>
      <vt:lpstr>Актуальність теми </vt:lpstr>
      <vt:lpstr>Постановка задачі </vt:lpstr>
      <vt:lpstr>Аналіз предметної області </vt:lpstr>
      <vt:lpstr>Проєктування системи-діаграма компонентів  </vt:lpstr>
      <vt:lpstr>PowerPoint Presentation</vt:lpstr>
      <vt:lpstr>PowerPoint Presentation</vt:lpstr>
      <vt:lpstr>Реалізація системи </vt:lpstr>
      <vt:lpstr>Реалізація системи </vt:lpstr>
      <vt:lpstr>Тестування та верифікація </vt:lpstr>
      <vt:lpstr>Впровадження та супровід </vt:lpstr>
      <vt:lpstr>Висновки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 роботи  ПІБ студента, група ПІБ наукового керівника, посада  Рік захисту</dc:title>
  <dc:creator>Olha Zalevska</dc:creator>
  <cp:lastModifiedBy>Назарій Слюсар</cp:lastModifiedBy>
  <cp:revision>10</cp:revision>
  <dcterms:created xsi:type="dcterms:W3CDTF">2024-05-18T16:47:00Z</dcterms:created>
  <dcterms:modified xsi:type="dcterms:W3CDTF">2026-05-14T15:21:13Z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0x0101000A0E88F3A47CCD40B815FDB2781F36D7</vt:lpwstr>
  </property>
</Properties>
</file>